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HDB Resale Market Insights</a:t>
            </a:r>
          </a:p>
          <a:p>
            <a:pPr>
              <a:defRPr sz="2000">
                <a:solidFill>
                  <a:srgbClr val="D4AF37"/>
                </a:solidFill>
                <a:latin typeface="Calibri"/>
              </a:defRPr>
            </a:pPr>
            <a:r>
              <a:t>Data-Driven Analysis of Singapore's Resale Market (1990 - 2026)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Unprecedented Price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2020 - 2026 saw the most rapid appreciation in HDB history.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Average resale price reached ~$660k in 2026.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Price per square meter (PSM) crossed the $7,000 threshold for the first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Key Market Drivers &amp;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4AF37"/>
                </a:solidFill>
                <a:latin typeface="Trebuchet MS"/>
              </a:defRPr>
            </a:pPr>
            <a:r>
              <a:t>Million-Dollar Transactions Surge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Million-dollar transactions grew from 82 in 2020 to 1,593 in 2025.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The 'Million-Dollar' narrative has become a new benchmark for high-end HDB expectations.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4AF37"/>
                </a:solidFill>
                <a:latin typeface="Trebuchet MS"/>
              </a:defRPr>
            </a:pPr>
            <a:r>
              <a:t>Regional Growth Dynamics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While the central region remains the most expensive, 'heartland' towns like Sembawang and Bukit Batok saw the fastest percentage growth in PSM.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Buyers are increasingly moving to affordable towns, driving a 'catch-up' effect.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What Caused the 50% Price Surge?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Market growth is driven by supply-side constraints (post-COVID construction delays).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Changed buyer preferences emphasize more spacious living environments.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Macroeconomic factors including high household income and inflationary pressures.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Policy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Continued focus on increasing BTO supply to address demand.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Implementation of cooling measures to manage market sentiment.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Monitoring of high-value transactions to ensure long-term housing affordability for all segments.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